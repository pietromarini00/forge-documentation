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26"/>
    <p:restoredTop sz="94610"/>
  </p:normalViewPr>
  <p:slideViewPr>
    <p:cSldViewPr snapToGrid="0" snapToObjects="1">
      <p:cViewPr varScale="1">
        <p:scale>
          <a:sx n="238" d="100"/>
          <a:sy n="238" d="100"/>
        </p:scale>
        <p:origin x="184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122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Forge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Governance for Multi-Source Research Data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using real biomedical research examples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SchemaForge  +  DataForge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You Already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data from collaborating sites and institutions. Everyone uses different variable names — or legacy codes that mean nothing outside one study. You're doing QC in spreadsheets. It hurts.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65760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4231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BRAAK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NPPMIH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NPSEX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NACCLEWY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NACCDAGE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clin_diagnosis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365760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24231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braak_nft_stage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postmortem_interval_hours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lewy_body_distribution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age_at_death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primary_diagnosis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7889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Forge Actually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 in a pipeline. Define it, store it, map to it, check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2011680"/>
            <a:ext cx="731520" cy="731520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148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Workbench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schema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2606040"/>
            <a:ext cx="32004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60320" y="17373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154680" y="2011680"/>
            <a:ext cx="731520" cy="731520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148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5176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65176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 centrally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606040"/>
            <a:ext cx="320040" cy="320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63440" y="17373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5257800" y="2011680"/>
            <a:ext cx="731520" cy="731520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14884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5488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Harmonization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75488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incoming data</a:t>
            </a:r>
            <a:endParaRPr lang="en-US" sz="11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606040"/>
            <a:ext cx="320040" cy="32004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766560" y="17373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7360920" y="2011680"/>
            <a:ext cx="731520" cy="731520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2148840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5800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DataForge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685800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publish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457200" y="4389120"/>
            <a:ext cx="4023360" cy="365760"/>
          </a:xfrm>
          <a:prstGeom prst="rect">
            <a:avLst/>
          </a:prstGeom>
          <a:solidFill>
            <a:srgbClr val="065A8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0"/>
          <p:cNvSpPr/>
          <p:nvPr/>
        </p:nvSpPr>
        <p:spPr>
          <a:xfrm>
            <a:off x="457200" y="4389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SchemaForge — define &amp; map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663440" y="4389120"/>
            <a:ext cx="4023360" cy="36576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2"/>
          <p:cNvSpPr/>
          <p:nvPr/>
        </p:nvSpPr>
        <p:spPr>
          <a:xfrm>
            <a:off x="4663440" y="4389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 — validate &amp; publish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Path-ND Neuropathology CDEs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harmonization challenge. 1,616 fields, 15 collections, two source studies.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1,616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46304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77440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7744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146304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0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11480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Studies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46304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0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85216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Names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743200"/>
            <a:ext cx="73152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participant_id, brain_bank_id, tissue_block_id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73152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Pathology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braak_nft_stage, cerad_score, lewy_body_distribution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401568"/>
            <a:ext cx="73152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primary_diagnosis, age_at_onset, cognitive_status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401568"/>
            <a:ext cx="73152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sex, age_at_death, race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059936"/>
            <a:ext cx="73152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4059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2885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apoe_genotype, snp_array_data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4059936"/>
            <a:ext cx="73152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4059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2885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tissue_available, DNA_available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Build the Schema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Workbench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CDE list. AI finds the duplicates, suggests canonical names and types, you review and publish.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your CDE list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 or Excel)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78308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97180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9718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65176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6888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naming rules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domain context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783080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07492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0749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75488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Curate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names,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constraints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83080"/>
            <a:ext cx="274320" cy="2743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17804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1780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85800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67512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Registry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version tag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9144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AI does for you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1295C"/>
                </a:solidFill>
              </a:rPr>
              <a:t>Spots duplicates: </a:t>
            </a:r>
            <a:r>
              <a:rPr lang="en-US" sz="1200" dirty="0">
                <a:solidFill>
                  <a:srgbClr val="64748B"/>
                </a:solidFill>
              </a:rPr>
              <a:t>braak_nft_stage, NPBRAAK, neurofibrillary_stage — one concept, three names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1295C"/>
                </a:solidFill>
              </a:rPr>
              <a:t>Suggests types &amp; constraints: </a:t>
            </a:r>
            <a:r>
              <a:rPr lang="en-US" sz="1200" dirty="0">
                <a:solidFill>
                  <a:srgbClr val="64748B"/>
                </a:solidFill>
              </a:rPr>
              <a:t>sex → enum (Male | Female | Other), Required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1295C"/>
                </a:solidFill>
              </a:rPr>
              <a:t>Catches nullability rules: </a:t>
            </a:r>
            <a:r>
              <a:rPr lang="en-US" sz="1200" dirty="0">
                <a:solidFill>
                  <a:srgbClr val="64748B"/>
                </a:solidFill>
              </a:rPr>
              <a:t>age_at_onset → nullable (controls may not have one)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AI Curation Looks Like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from neuropathology CDE curation. You accept what's right, fix what's not.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78638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braak_nft_stage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01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Type: </a:t>
            </a:r>
            <a:r>
              <a:rPr lang="en-US" sz="1100" dirty="0">
                <a:solidFill>
                  <a:srgbClr val="64748B"/>
                </a:solidFill>
              </a:rPr>
              <a:t>numeric     </a:t>
            </a:r>
            <a:r>
              <a:rPr lang="en-US" sz="1100" b="1" dirty="0">
                <a:solidFill>
                  <a:srgbClr val="21295C"/>
                </a:solidFill>
              </a:rPr>
              <a:t>Range: </a:t>
            </a:r>
            <a:r>
              <a:rPr lang="en-US" sz="1100" dirty="0">
                <a:solidFill>
                  <a:srgbClr val="64748B"/>
                </a:solidFill>
              </a:rPr>
              <a:t>0–6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Priority: </a:t>
            </a:r>
            <a:r>
              <a:rPr lang="en-US" sz="1100" dirty="0">
                <a:solidFill>
                  <a:srgbClr val="64748B"/>
                </a:solidFill>
              </a:rPr>
              <a:t>Required     </a:t>
            </a:r>
            <a:r>
              <a:rPr lang="en-US" sz="1100" b="1" dirty="0">
                <a:solidFill>
                  <a:srgbClr val="21295C"/>
                </a:solidFill>
              </a:rPr>
              <a:t>Alias detected: </a:t>
            </a: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NPBRAAK, braak_stage, neurofibrillary_stage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00200"/>
            <a:ext cx="365760" cy="365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" y="3200400"/>
            <a:ext cx="78638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73152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32644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lewy_body_distribution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3593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Type: </a:t>
            </a:r>
            <a:r>
              <a:rPr lang="en-US" sz="1100" dirty="0">
                <a:solidFill>
                  <a:srgbClr val="64748B"/>
                </a:solidFill>
              </a:rPr>
              <a:t>enum     </a:t>
            </a:r>
            <a:r>
              <a:rPr lang="en-US" sz="1100" b="1" dirty="0">
                <a:solidFill>
                  <a:srgbClr val="21295C"/>
                </a:solidFill>
              </a:rPr>
              <a:t>Values: </a:t>
            </a:r>
            <a:r>
              <a:rPr lang="en-US" sz="1100" dirty="0">
                <a:solidFill>
                  <a:srgbClr val="64748B"/>
                </a:solidFill>
              </a:rPr>
              <a:t>0-Absent | 1-Brainstem | 2-Limbic | 3-Neocortical     </a:t>
            </a:r>
            <a:r>
              <a:rPr lang="en-US" sz="1100" b="1" dirty="0">
                <a:solidFill>
                  <a:srgbClr val="21295C"/>
                </a:solidFill>
              </a:rPr>
              <a:t>Priority: </a:t>
            </a:r>
            <a:r>
              <a:rPr lang="en-US" sz="1100" dirty="0">
                <a:solidFill>
                  <a:srgbClr val="64748B"/>
                </a:solidFill>
              </a:rPr>
              <a:t>Required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Reason: 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"Scored by neuropathologist at autopsy"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Aliases detected: </a:t>
            </a: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NACCLEWY, lewy_body_stage, lewy_pathology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918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— The Registry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single source of truth. Every element, versioned and immutable.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29000" y="1828800"/>
            <a:ext cx="2286000" cy="22860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1488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20440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Canonical CDE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v1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2044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schema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463040" y="2971800"/>
            <a:ext cx="1965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146304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468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15000" y="2286000"/>
            <a:ext cx="1371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58000" y="1828800"/>
            <a:ext cx="16459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schema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15000" y="3474720"/>
            <a:ext cx="1371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858000" y="3108960"/>
            <a:ext cx="16459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5800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rules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something? New version. Old versions stay immutable.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— Map Incoming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 Engine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site uploads their CSV. AI matches their columns to your canonical schema. You confirm.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Schema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canonical schema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103120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74720" y="155448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1188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118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16052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Source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1188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their 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their names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0312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09360" y="155448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4465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99516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Matches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4652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ranks candidates.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accept, reject,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pick alternatives.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0080" y="347472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91440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matching works under the hood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914400" y="3886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</a:rPr>
              <a:t>TF-IDF (lexical): </a:t>
            </a:r>
            <a:r>
              <a:rPr lang="en-US" sz="1100" dirty="0">
                <a:solidFill>
                  <a:srgbClr val="64748B"/>
                </a:solidFill>
              </a:rPr>
              <a:t>catches exact and near-exact name matches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</a:rPr>
              <a:t>Embeddings (semantic): </a:t>
            </a:r>
            <a:r>
              <a:rPr lang="en-US" sz="1100" dirty="0">
                <a:solidFill>
                  <a:srgbClr val="64748B"/>
                </a:solidFill>
              </a:rPr>
              <a:t>catches synonyms — knows NPBRAAK and braak_nft_stage mean the same thing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</a:rPr>
              <a:t>AI evaluation: </a:t>
            </a:r>
            <a:r>
              <a:rPr lang="en-US" sz="1100" dirty="0">
                <a:solidFill>
                  <a:srgbClr val="64748B"/>
                </a:solidFill>
              </a:rPr>
              <a:t>Claude reviews the top candidates and gives a confidence score + reasoning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Matching in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alternate names from the Path-ND neuropathology CDE schema. The AI finds them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Field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Matched 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BRAAK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96596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4048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braak_nft_stage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9476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2296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NPPMIH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4231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4048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postmortem_interval_hours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40487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5236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82296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NACCLEWY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8803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4048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lewy_body_distribution</a:t>
            </a:r>
            <a:endParaRPr lang="en-US" sz="12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862072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5236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82296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NACCDAGE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33756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84048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age_at_death</a:t>
            </a:r>
            <a:endParaRPr lang="en-US" sz="12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319272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45236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4"/>
          <p:cNvSpPr/>
          <p:nvPr/>
        </p:nvSpPr>
        <p:spPr>
          <a:xfrm>
            <a:off x="82296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neuropath_sex</a:t>
            </a:r>
            <a:endParaRPr lang="en-US" sz="12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794760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84048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2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776472"/>
            <a:ext cx="274320" cy="27432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45236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28"/>
          <p:cNvSpPr/>
          <p:nvPr/>
        </p:nvSpPr>
        <p:spPr>
          <a:xfrm>
            <a:off x="82296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NPADNC</a:t>
            </a:r>
            <a:endParaRPr lang="en-US" sz="12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251960"/>
            <a:ext cx="274320" cy="27432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384048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nia_aa_adnc_score</a:t>
            </a:r>
            <a:endParaRPr lang="en-US" sz="12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233672"/>
            <a:ext cx="274320" cy="27432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745236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200" dirty="0"/>
          </a:p>
        </p:txBody>
      </p:sp>
      <p:sp>
        <p:nvSpPr>
          <p:cNvPr id="45" name="Text 31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knows BRAAK and braak_nft_stage are the same thing. You just confirm.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— Validate in DataForge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harmonized CSV. Four levels of validation fire automatically.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73152" cy="685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508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required fields, enum values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 must be Male | Female | Other...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73152" cy="685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331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rules across columns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 → must have braak_nft_stage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73152" cy="685800"/>
          </a:xfrm>
          <a:prstGeom prst="rect">
            <a:avLst/>
          </a:prstGeom>
          <a:solidFill>
            <a:srgbClr val="2A8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1546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3154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within the batch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duplicate participant_ids within batch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73152" cy="685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3977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Cross-batch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0312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submissions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sample can't change sex between batches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schema rules run in seconds — not hours of spreadsheet QC.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Errors Forge Actually Catches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neuropathology sample data. These are real problems Forge catches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59436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630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965960" y="1463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0604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participant_id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77640" y="1463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— required field, can't have a record with no ID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084832"/>
            <a:ext cx="7863840" cy="59436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219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08483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965960" y="208483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8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06040" y="20848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primary_diagnosis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977640" y="20848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"Alzheimers Disease" — closest match is "Alzheimer Disease", enum expects exact values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2706624"/>
            <a:ext cx="7863840" cy="59436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43784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70662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965960" y="27066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22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606040" y="270662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braak_nft_stage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977640" y="27066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above valid range (0–6), Braak stage must be 0–6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3328416"/>
            <a:ext cx="7863840" cy="59436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65576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88720" y="332841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965960" y="332841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11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2606040" y="332841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age_at_onset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977640" y="332841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sample with age_at_onset 58 — controls shouldn't have one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40080" y="3950208"/>
            <a:ext cx="7863840" cy="59436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87368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88720" y="395020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965960" y="39502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2606040" y="39502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age_at_death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977640" y="395020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at death 42 — date_of_birth implies age 78, possible data entry error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hunting through spreadsheets. Forge tells you exactly what's wrong and where.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 — Review &amp; Publish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 claims the submission, reviews results, approves or sends 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0" cy="59436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UPLOADED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69164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3120" y="1554480"/>
            <a:ext cx="1463040" cy="594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10312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VALIDATING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691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49040" y="1554480"/>
            <a:ext cx="1463040" cy="5943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74904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9164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309360" y="1554480"/>
            <a:ext cx="1463040" cy="5943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30936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ACCEPTED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749040" y="2423160"/>
            <a:ext cx="1463040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3749040" y="2423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NEEDED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30352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resubmit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40080" y="32461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0080" y="324612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2296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Exclusive lock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2296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 submission so nobody else edits it at the same time. Auto-releases after timeout.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474720" y="32461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3474720" y="324612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365760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tracking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65760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creates a new version. Full diff from previous. Nothing gets lost.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309360" y="32461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309360" y="324612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49224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49224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— who uploaded, who validated, who approved, when. Immutable.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Picture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8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Manager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926080" y="1188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Curates schema</a:t>
            </a:r>
            <a:r>
              <a:rPr lang="en-US" sz="1100" dirty="0">
                <a:solidFill>
                  <a:srgbClr val="1C7293"/>
                </a:solidFill>
              </a:rPr>
              <a:t>  →  </a:t>
            </a:r>
            <a:r>
              <a:rPr lang="en-US" sz="1100" dirty="0">
                <a:solidFill>
                  <a:srgbClr val="94A3B8"/>
                </a:solidFill>
              </a:rPr>
              <a:t>Publishes to Registry</a:t>
            </a:r>
            <a:r>
              <a:rPr lang="en-US" sz="1100" dirty="0">
                <a:solidFill>
                  <a:srgbClr val="1C7293"/>
                </a:solidFill>
              </a:rPr>
              <a:t>  →  </a:t>
            </a:r>
            <a:r>
              <a:rPr lang="en-US" sz="1100" dirty="0">
                <a:solidFill>
                  <a:srgbClr val="94A3B8"/>
                </a:solidFill>
              </a:rPr>
              <a:t>Reviews submissions</a:t>
            </a:r>
            <a:r>
              <a:rPr lang="en-US" sz="1100" dirty="0">
                <a:solidFill>
                  <a:srgbClr val="1C7293"/>
                </a:solidFill>
              </a:rPr>
              <a:t>  →  </a:t>
            </a:r>
            <a:r>
              <a:rPr lang="en-US" sz="1100" b="1" dirty="0">
                <a:solidFill>
                  <a:srgbClr val="059669"/>
                </a:solidFill>
              </a:rPr>
              <a:t>Approves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202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8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Site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926080" y="1920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Maps their data</a:t>
            </a:r>
            <a:r>
              <a:rPr lang="en-US" sz="1100" dirty="0">
                <a:solidFill>
                  <a:srgbClr val="1C7293"/>
                </a:solidFill>
              </a:rPr>
              <a:t>  →  </a:t>
            </a:r>
            <a:r>
              <a:rPr lang="en-US" sz="1100" dirty="0">
                <a:solidFill>
                  <a:srgbClr val="94A3B8"/>
                </a:solidFill>
              </a:rPr>
              <a:t>Submits to DataForge</a:t>
            </a:r>
            <a:r>
              <a:rPr lang="en-US" sz="1100" dirty="0">
                <a:solidFill>
                  <a:srgbClr val="1C7293"/>
                </a:solidFill>
              </a:rPr>
              <a:t>  →  </a:t>
            </a:r>
            <a:r>
              <a:rPr lang="en-US" sz="1100" dirty="0">
                <a:solidFill>
                  <a:srgbClr val="94A3B8"/>
                </a:solidFill>
              </a:rPr>
              <a:t>Fixes errors</a:t>
            </a:r>
            <a:r>
              <a:rPr lang="en-US" sz="1100" dirty="0">
                <a:solidFill>
                  <a:srgbClr val="1C7293"/>
                </a:solidFill>
              </a:rPr>
              <a:t>  →  </a:t>
            </a:r>
            <a:r>
              <a:rPr lang="en-US" sz="1100" dirty="0">
                <a:solidFill>
                  <a:srgbClr val="94A3B8"/>
                </a:solidFill>
              </a:rPr>
              <a:t>Resubmits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517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8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292608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AI matching</a:t>
            </a:r>
            <a:r>
              <a:rPr lang="en-US" sz="1100" dirty="0">
                <a:solidFill>
                  <a:srgbClr val="1C7293"/>
                </a:solidFill>
              </a:rPr>
              <a:t>  →  </a:t>
            </a:r>
            <a:r>
              <a:rPr lang="en-US" sz="1100" dirty="0">
                <a:solidFill>
                  <a:srgbClr val="94A3B8"/>
                </a:solidFill>
              </a:rPr>
              <a:t>Automated validation</a:t>
            </a:r>
            <a:r>
              <a:rPr lang="en-US" sz="1100" dirty="0">
                <a:solidFill>
                  <a:srgbClr val="1C7293"/>
                </a:solidFill>
              </a:rPr>
              <a:t>  →  </a:t>
            </a:r>
            <a:r>
              <a:rPr lang="en-US" sz="1100" dirty="0">
                <a:solidFill>
                  <a:srgbClr val="94A3B8"/>
                </a:solidFill>
              </a:rPr>
              <a:t>Audit trail</a:t>
            </a:r>
            <a:r>
              <a:rPr lang="en-US" sz="1100" dirty="0">
                <a:solidFill>
                  <a:srgbClr val="1C7293"/>
                </a:solidFill>
              </a:rPr>
              <a:t>  →  </a:t>
            </a:r>
            <a:r>
              <a:rPr lang="en-US" sz="1100" b="1" dirty="0">
                <a:solidFill>
                  <a:srgbClr val="059669"/>
                </a:solidFill>
              </a:rPr>
              <a:t>Clean data out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40080" y="3337560"/>
            <a:ext cx="78638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a clear job. Forge handles the tedious parts.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4251960"/>
            <a:ext cx="146304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5720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CDE List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4343400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194560" y="4251960"/>
            <a:ext cx="146304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219456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343400"/>
            <a:ext cx="228600" cy="2286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931920" y="4251960"/>
            <a:ext cx="1463040" cy="502920"/>
          </a:xfrm>
          <a:prstGeom prst="rect">
            <a:avLst/>
          </a:prstGeom>
          <a:solidFill>
            <a:srgbClr val="2A8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393192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Mapped Data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4343400"/>
            <a:ext cx="228600" cy="2286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5669280" y="4251960"/>
            <a:ext cx="146304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/>
          <p:nvPr/>
        </p:nvSpPr>
        <p:spPr>
          <a:xfrm>
            <a:off x="566928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Validated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4343400"/>
            <a:ext cx="228600" cy="22860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406640" y="4251960"/>
            <a:ext cx="1463040" cy="502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9"/>
          <p:cNvSpPr/>
          <p:nvPr/>
        </p:nvSpPr>
        <p:spPr>
          <a:xfrm>
            <a:off x="740664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 Going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as API-First Governance Infrastructure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APIs are the product — the web UI is one client among many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compounds — every decision builds institutional memory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 + CLI for engineers, integrations for researchers — same APIs behind both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domain where data must conform to shared standards — starting with biomedical research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• CLI • REDCap • Jupyter • R • CI/CD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TL;DR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657600" cy="256032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Manual spreadsheet QC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Inconsistent field names across sites and studies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No audit trail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Weeks per batch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657600" cy="256032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Forge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19202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AI does the field matching across naming conventions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Validation in seconds, not hours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Errors are specific — row, field, why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Everything is tracked and versioned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4231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1226</Words>
  <Application>Microsoft Macintosh PowerPoint</Application>
  <PresentationFormat>On-screen Show (16:9)</PresentationFormat>
  <Paragraphs>248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— GP2 Clinical Data Walkthrough</dc:title>
  <dc:subject>PptxGenJS Presentation</dc:subject>
  <dc:creator>Forge Team</dc:creator>
  <cp:lastModifiedBy>Vitale, Dan (NIH/NIA/IRP) [C]</cp:lastModifiedBy>
  <cp:revision>2</cp:revision>
  <dcterms:created xsi:type="dcterms:W3CDTF">2026-02-26T22:23:29Z</dcterms:created>
  <dcterms:modified xsi:type="dcterms:W3CDTF">2026-03-11T20:19:10Z</dcterms:modified>
</cp:coreProperties>
</file>
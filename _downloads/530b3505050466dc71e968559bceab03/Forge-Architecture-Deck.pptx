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B3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0"/>
            <a:ext cx="9144000" cy="1371600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HEADER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F7FBFC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FORGE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7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Schema Management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7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Data Harmonization 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 &amp; Technical Overview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February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9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harmonizing data from multiple sources face three manual bottlenecks: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51760" cy="2743200"/>
          </a:xfrm>
          <a:prstGeom prst="rect">
            <a:avLst/>
          </a:prstGeom>
          <a:solidFill>
            <a:srgbClr val="F7FB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Maintenance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6060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data dictionaries degrade: duplicates, inconsistent naming, poor documentation. Cleanup happens in spreadsheets.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3840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100s of hours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651760" cy="2743200"/>
          </a:xfrm>
          <a:prstGeom prst="rect">
            <a:avLst/>
          </a:prstGeom>
          <a:solidFill>
            <a:srgbClr val="F7FB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691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🔗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2900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Mapping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26060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source requires mapping hundreds of fields to canonical elements. Tedious, inconsistent, untracked.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3840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per source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651760" cy="2743200"/>
          </a:xfrm>
          <a:prstGeom prst="rect">
            <a:avLst/>
          </a:prstGeom>
          <a:solidFill>
            <a:srgbClr val="F7FB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691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⚙️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26364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26060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mapped, data needs validation, QC review, corrections, and versioning. Often cobbled together with scripts.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3840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Data harmonization is a bottleneck. Quality varies. No feedback loop.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9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Solution: Forge Platform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layers that handle the complete data harmonization lifecycle: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2560320"/>
          </a:xfrm>
          <a:prstGeom prst="rect">
            <a:avLst/>
          </a:prstGeom>
          <a:solidFill>
            <a:srgbClr val="065A82"/>
          </a:solidFill>
          <a:ln w="25400">
            <a:solidFill>
              <a:srgbClr val="0B39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SCHEMAFORGE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7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should my data look like?"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Registry Service – Store &amp; version schemas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Curation Workbench – Create schemas with AI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Harmonization Engine – Map fields with AI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2560320"/>
          </a:xfrm>
          <a:prstGeom prst="rect">
            <a:avLst/>
          </a:prstGeom>
          <a:solidFill>
            <a:srgbClr val="1C7293"/>
          </a:solidFill>
          <a:ln w="25400">
            <a:solidFill>
              <a:srgbClr val="0B39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08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DATAFORGE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874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7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"Here's actual data—validate it"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22860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Ingest – Apply mappings, transform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Validate – Schema checks, rules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QC Workflow – Review, approve, correct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Serve – Query API, exports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2286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7FBF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faster field mapping  •  AI-assisted schema creation  •  End-to-end audit trail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9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solidFill>
            <a:srgbClr val="F8F9FA"/>
          </a:solidFill>
          <a:ln w="12700">
            <a:solidFill>
              <a:srgbClr val="636E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PLATFORM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86384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SCHEMAFORGE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2286000" cy="1005840"/>
          </a:xfrm>
          <a:prstGeom prst="rect">
            <a:avLst/>
          </a:prstGeom>
          <a:solidFill>
            <a:srgbClr val="F7FB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74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1874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0" y="1828800"/>
            <a:ext cx="2286000" cy="1005840"/>
          </a:xfrm>
          <a:prstGeom prst="rect">
            <a:avLst/>
          </a:prstGeom>
          <a:solidFill>
            <a:srgbClr val="F7FB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874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Workbench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1874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22860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Duplicate Detection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Suggestions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Projects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828800"/>
            <a:ext cx="2286000" cy="1005840"/>
          </a:xfrm>
          <a:prstGeom prst="rect">
            <a:avLst/>
          </a:prstGeom>
          <a:solidFill>
            <a:srgbClr val="F7FB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874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Harmonization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63840" y="1874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22860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3154680"/>
            <a:ext cx="786384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DATAFORGE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3611880"/>
            <a:ext cx="1280160" cy="457200"/>
          </a:xfrm>
          <a:prstGeom prst="roundRect">
            <a:avLst/>
          </a:prstGeom>
          <a:solidFill>
            <a:srgbClr val="F7FBF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611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48840" y="3611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468880" y="3611880"/>
            <a:ext cx="1280160" cy="457200"/>
          </a:xfrm>
          <a:prstGeom prst="roundRect">
            <a:avLst/>
          </a:prstGeom>
          <a:solidFill>
            <a:srgbClr val="F7FBF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3611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03320" y="3611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023360" y="3611880"/>
            <a:ext cx="1280160" cy="457200"/>
          </a:xfrm>
          <a:prstGeom prst="roundRect">
            <a:avLst/>
          </a:prstGeom>
          <a:solidFill>
            <a:srgbClr val="F7FBF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0" y="3611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57800" y="3611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577840" y="3611880"/>
            <a:ext cx="1280160" cy="457200"/>
          </a:xfrm>
          <a:prstGeom prst="roundRect">
            <a:avLst/>
          </a:prstGeom>
          <a:solidFill>
            <a:srgbClr val="F7FBF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3611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12280" y="3611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132320" y="3611880"/>
            <a:ext cx="1280160" cy="457200"/>
          </a:xfrm>
          <a:prstGeom prst="roundRect">
            <a:avLst/>
          </a:prstGeom>
          <a:solidFill>
            <a:srgbClr val="F7FBF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0" y="3611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0" y="4206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Future – Phase 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    🔄 In Progress    ⏳ Planned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9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Registry Service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0" y="365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for canonical schemas, elements, and their versions.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91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Storage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94560" y="1691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with full CRUD, soft deletes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488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94560" y="2148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versions, snapshots, rollback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060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94560" y="2606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endpoints, pagination, filtering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063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Engine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94560" y="30632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JSON, YAML, CSV, Markdown, JSON Schema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520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System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94560" y="3520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on schema changes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977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94560" y="3977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permissions, audit logging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solidFill>
            <a:srgbClr val="F7FB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Details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182880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Database: PostgreSQL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Framework: FastAPI (Python)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Cache: Redis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Storage: GCS for snapshots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Events: Webhook-based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Endpoints: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/schemas - CRUD operations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/elements - Bulk create/update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/versions - Snapshot management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/export - Multi-format export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/webhooks - Event subscriptions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9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Harmonization Engine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675120" y="365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 PRODUCTION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field matching that maps source datasets to canonical schemas.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46304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fields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metadata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74520" y="1691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48840" y="1371600"/>
            <a:ext cx="1463040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1417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48840" y="17373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1691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840480" y="1371600"/>
            <a:ext cx="146304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1417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0" y="17373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scoring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57800" y="1691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532120" y="1371600"/>
            <a:ext cx="146304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1417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32120" y="17373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49440" y="1691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223760" y="1371600"/>
            <a:ext cx="1463040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1417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23760" y="17373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743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108960"/>
            <a:ext cx="3931920" cy="1371600"/>
          </a:xfrm>
          <a:prstGeom prst="rect">
            <a:avLst/>
          </a:prstGeom>
          <a:solidFill>
            <a:srgbClr val="F7FB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2004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TF-IDF (40%) – Lexical matching, handles exact names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Embeddings (60%) – Semantic similarity, catches synonyms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Combined scoring surfaces best candidates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Configurable weights per domain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2743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3108960"/>
            <a:ext cx="3931920" cy="1371600"/>
          </a:xfrm>
          <a:prstGeom prst="rect">
            <a:avLst/>
          </a:prstGeom>
          <a:solidFill>
            <a:srgbClr val="F7FB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2004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 evaluates each candidate match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Considers names, descriptions, values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Returns confidence score + reasoning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Human-in-the-loop verification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9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Curation Workbench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132320" y="365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PHASE 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schema creation from raw CDE lists.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3716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456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with variable names, types, descriptions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0116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9456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detects duplicates using hybrid retrieval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651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94560" y="2651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proposes canonical names, types, constraints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291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9456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accepts, modifies, or rejects suggestions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39319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19456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schema saved to Registry as project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12080" y="1371600"/>
            <a:ext cx="3474720" cy="3200400"/>
          </a:xfrm>
          <a:prstGeom prst="rect">
            <a:avLst/>
          </a:prstGeom>
          <a:solidFill>
            <a:srgbClr val="F7FBFC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Retrieval Core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228600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TF-IDF + embedding algorithms used by Harmonization Engine.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consistent matching behavior across all Forge services.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semantic duplicates that humans miss: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"AOO" ↔ "age_at_onset"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"dx_primary" ↔ "primary_diagnosis"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9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DataForge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132320" y="365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PHASE 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lifecycle management: validation, QC workflows, corrections, and serving.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mappings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values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2011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19202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182880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checks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evaluation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0" y="2011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19202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82880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queue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Claim/release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Approve/reject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29400" y="2011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903720" y="1371600"/>
            <a:ext cx="19202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182880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formats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push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solidFill>
            <a:srgbClr val="F7FBFC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Capabilities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tracked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5176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5176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lineage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6344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actions logged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7512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Post-accept edits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9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User Journey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463040" cy="1645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7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 Workbench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schema from CDE list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74520" y="1463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148840" y="914400"/>
            <a:ext cx="1463040" cy="1645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1005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48840" y="1417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7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 Workbench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48840" y="18288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Dedupe, standardize, publish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1463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840480" y="914400"/>
            <a:ext cx="1463040" cy="1645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1005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0" y="1417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7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Harmonization Engine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0" y="18288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source fields to schema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57800" y="1463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532120" y="914400"/>
            <a:ext cx="1463040" cy="1645920"/>
          </a:xfrm>
          <a:prstGeom prst="rect">
            <a:avLst/>
          </a:prstGeom>
          <a:solidFill>
            <a:srgbClr val="1C7293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1005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32120" y="1417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7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DataForge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32120" y="18288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mappings, validate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0" y="1463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223760" y="914400"/>
            <a:ext cx="1463040" cy="1645920"/>
          </a:xfrm>
          <a:prstGeom prst="rect">
            <a:avLst/>
          </a:prstGeom>
          <a:solidFill>
            <a:srgbClr val="1C7293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0" y="1005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CURATE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23760" y="1417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7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DataForge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223760" y="18288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review, accept into master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solidFill>
            <a:srgbClr val="F7FBF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Service — Schemas stored &amp; versioned throughout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Personas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374904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794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Admin (Gorb)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4114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schemas, approves changes, accepts data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374904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3794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Manager (Troy)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83280" y="4114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cohort data, submits for validation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26480" y="374904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3794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 (Elena)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17920" y="4114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definitions, validates quality decisions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9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Integration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services communicate via RESTful APIs and webhooks.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0" y="1645920"/>
            <a:ext cx="2286000" cy="1280160"/>
          </a:xfrm>
          <a:prstGeom prst="rect">
            <a:avLst/>
          </a:prstGeom>
          <a:solidFill>
            <a:srgbClr val="065A82"/>
          </a:solidFill>
          <a:ln w="25400">
            <a:solidFill>
              <a:srgbClr val="0B39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1783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[PostgreSQL]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286000" cy="1280160"/>
          </a:xfrm>
          <a:prstGeom prst="rect">
            <a:avLst/>
          </a:prstGeom>
          <a:solidFill>
            <a:srgbClr val="1C7293"/>
          </a:solidFill>
          <a:ln w="25400">
            <a:solidFill>
              <a:srgbClr val="0B39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83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[Streamlit]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0" y="1645920"/>
            <a:ext cx="2286000" cy="1280160"/>
          </a:xfrm>
          <a:prstGeom prst="rect">
            <a:avLst/>
          </a:prstGeom>
          <a:solidFill>
            <a:srgbClr val="028090"/>
          </a:solidFill>
          <a:ln w="25400">
            <a:solidFill>
              <a:srgbClr val="0B39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783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Workbench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[Future]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3291840"/>
            <a:ext cx="2286000" cy="914400"/>
          </a:xfrm>
          <a:prstGeom prst="rect">
            <a:avLst/>
          </a:prstGeom>
          <a:solidFill>
            <a:srgbClr val="636E72"/>
          </a:solidFill>
          <a:ln w="12700">
            <a:solidFill>
              <a:srgbClr val="0B3954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200400" y="33832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DataForge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[Future]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14800" y="2971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" y="4389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Patterns: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43891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REST API (sync)    ⋯→ Webhook (async)    ═→ File export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9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645920"/>
          </a:xfrm>
          <a:prstGeom prst="rect">
            <a:avLst/>
          </a:prstGeom>
          <a:solidFill>
            <a:srgbClr val="F7FB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25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69164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196596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74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24028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148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914400"/>
            <a:ext cx="3931920" cy="1645920"/>
          </a:xfrm>
          <a:prstGeom prst="rect">
            <a:avLst/>
          </a:prstGeom>
          <a:solidFill>
            <a:srgbClr val="F7FB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Storage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37760" y="141732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1325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169164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(cache)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196596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1874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(files)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224028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2148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(snapshots)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3931920" cy="1645920"/>
          </a:xfrm>
          <a:prstGeom prst="rect">
            <a:avLst/>
          </a:prstGeom>
          <a:solidFill>
            <a:srgbClr val="F7FB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" y="324612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154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(LLM)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" y="352044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3429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4360" y="379476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3703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(TF-IDF)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406908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3977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NumPy/SciPy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00600" y="2743200"/>
            <a:ext cx="3931920" cy="1645920"/>
          </a:xfrm>
          <a:prstGeom prst="rect">
            <a:avLst/>
          </a:prstGeom>
          <a:solidFill>
            <a:srgbClr val="F7FB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937760" y="324612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3154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937760" y="352044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8" name="Text 36"/>
          <p:cNvSpPr/>
          <p:nvPr/>
        </p:nvSpPr>
        <p:spPr>
          <a:xfrm>
            <a:off x="5120640" y="3429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937760" y="379476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0" name="Text 38"/>
          <p:cNvSpPr/>
          <p:nvPr/>
        </p:nvSpPr>
        <p:spPr>
          <a:xfrm>
            <a:off x="5120640" y="3703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937760" y="406908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2" name="Text 40"/>
          <p:cNvSpPr/>
          <p:nvPr/>
        </p:nvSpPr>
        <p:spPr>
          <a:xfrm>
            <a:off x="5120640" y="3977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(future)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9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920240" cy="4572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8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Harmonization MVP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CI/CD pipeline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 Run deployment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Production launch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31720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06040" y="914400"/>
            <a:ext cx="1920240" cy="4572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914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06040" y="1371600"/>
            <a:ext cx="192024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8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463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Service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97480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21945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Schema CRUD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Versioning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Harmonization integration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0560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754880" y="914400"/>
            <a:ext cx="1920240" cy="457200"/>
          </a:xfrm>
          <a:prstGeom prst="rect">
            <a:avLst/>
          </a:prstGeom>
          <a:solidFill>
            <a:srgbClr val="FDCB6E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914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371600"/>
            <a:ext cx="192024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DCB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463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 Workbench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IN PROGRESS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1945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Upload workflow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Duplicate detection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 suggestions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Schema projects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29400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903720" y="914400"/>
            <a:ext cx="1920240" cy="457200"/>
          </a:xfrm>
          <a:prstGeom prst="rect">
            <a:avLst/>
          </a:prstGeom>
          <a:solidFill>
            <a:srgbClr val="636E72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914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903720" y="1371600"/>
            <a:ext cx="192024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636E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1463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DataForge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95160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PLANNED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40880" y="21945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Validation engine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QC workflows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serving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integration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7FBFC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Focus: Phase C – Building Curation Workbench with AI-assisted schema creation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9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645920"/>
          </a:xfrm>
          <a:prstGeom prst="rect">
            <a:avLst/>
          </a:prstGeom>
          <a:solidFill>
            <a:srgbClr val="F7FB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Harmonization Engine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70%+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field mapping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74520" y="1417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&gt;80%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74520" y="19202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acceptance rate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54680" y="1417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&lt;2s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154680" y="19202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Per-field matching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914400"/>
            <a:ext cx="3931920" cy="1645920"/>
          </a:xfrm>
          <a:prstGeom prst="rect">
            <a:avLst/>
          </a:prstGeom>
          <a:solidFill>
            <a:srgbClr val="F7FB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Service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417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&gt;99.9%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37760" y="19202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uptime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0" y="1417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&lt;100ms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0" y="19202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0" y="1417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98080" y="19202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 managed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3931920" cy="1645920"/>
          </a:xfrm>
          <a:prstGeom prst="rect">
            <a:avLst/>
          </a:prstGeom>
          <a:solidFill>
            <a:srgbClr val="F7FB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 Workbench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3246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70%+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94360" y="3749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savings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74520" y="3246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&gt;90%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874520" y="3749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154680" y="3246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&gt;60%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154680" y="3749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acceptance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2743200"/>
            <a:ext cx="3931920" cy="1645920"/>
          </a:xfrm>
          <a:prstGeom prst="rect">
            <a:avLst/>
          </a:prstGeom>
          <a:solidFill>
            <a:srgbClr val="F7FB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DataForge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0" y="3246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10k+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937760" y="3749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Records/month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3246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&lt;1%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217920" y="3749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Post-QC errors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98080" y="3246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&lt;48hr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498080" y="3749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9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Forge?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AI-First Design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+ LLM evaluation catches matches that keyword search misses. Semantic understanding of abbreviations, synonyms, and domain concepts.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00600" y="91440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Human-in-the-Loop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4173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assists, humans decide. Feedback loop continuously improves matching. Full audit trail for compliance.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Clear Separation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1546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SchemaForge handles "what data looks like." DataForge handles "actual data validation." Different concerns, independent scaling.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265176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Cloud-Native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31546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modern infrastructure. Docker containers, Cloud Run deployment, auto-scaling. Pay only for what you use.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9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New Developers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for getting started with the Forge codebase.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to Understand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931920" cy="1828800"/>
          </a:xfrm>
          <a:prstGeom prst="rect">
            <a:avLst/>
          </a:prstGeom>
          <a:solidFill>
            <a:srgbClr val="F7FB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288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Schema = versioned container for elements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Element = field definition (name, type, constraints)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Source = dataset being mapped to schema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Mapping = relationship between source field → element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Submission = batch going through QC workflow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Entry Points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737360"/>
            <a:ext cx="3931920" cy="1828800"/>
          </a:xfrm>
          <a:prstGeom prst="rect">
            <a:avLst/>
          </a:prstGeom>
          <a:solidFill>
            <a:srgbClr val="F7FB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8288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HybridRetriever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TF-IDF + embedding matching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RegistryClient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API calls to Registry Service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Evaluation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Claude prompts for match scoring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Curation UI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Streamlit app for review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forge-executive-summary.md – Platform overview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forge-production-roadmap.md – Development phases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forge-user-journey.md – End-to-end workflows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forge-integration-contracts.md – API specifications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7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Platform Architecture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Schema Management &amp; Data Harmonization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Forge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 Platform Architecture</dc:title>
  <dc:subject>AI-Powered Schema Management and Data Harmonization</dc:subject>
  <dc:creator>Forge Team</dc:creator>
  <cp:lastModifiedBy>Forge Team</cp:lastModifiedBy>
  <cp:revision>1</cp:revision>
  <dcterms:created xsi:type="dcterms:W3CDTF">2026-02-02T14:58:21Z</dcterms:created>
  <dcterms:modified xsi:type="dcterms:W3CDTF">2026-02-02T14:58:21Z</dcterms:modified>
</cp:coreProperties>
</file>